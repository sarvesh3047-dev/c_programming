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D40A8-F083-4AA5-ACA5-C726763F565F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E13DB-CDC3-4886-9B00-873AF80C4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98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E13DB-CDC3-4886-9B00-873AF80C466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257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47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98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577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1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20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66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78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3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44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70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5549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106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4087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07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52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24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A4AE2-5EF3-4FFC-A8CF-3073FBCD935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B2D73A8-2009-487E-ABC7-5F6D38237F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544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B925-3752-1D93-8F3A-AC6CC389D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23" y="408432"/>
            <a:ext cx="8596668" cy="1320800"/>
          </a:xfrm>
        </p:spPr>
        <p:txBody>
          <a:bodyPr/>
          <a:lstStyle/>
          <a:p>
            <a:r>
              <a:rPr lang="en-IN" b="1" dirty="0"/>
              <a:t>LIBRARY MANAGEMENT SYSTEM IN C USING 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EC715-DC99-C69A-960F-9A169B561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cs typeface="Biome"/>
              </a:rPr>
              <a:t>Team Members:</a:t>
            </a:r>
            <a:br>
              <a:rPr lang="en-US" b="1" dirty="0">
                <a:cs typeface="Biome"/>
              </a:rPr>
            </a:br>
            <a:br>
              <a:rPr lang="en-US" sz="1600" b="1" dirty="0">
                <a:cs typeface="Biome"/>
              </a:rPr>
            </a:br>
            <a:r>
              <a:rPr lang="en-US" dirty="0">
                <a:cs typeface="Biome"/>
              </a:rPr>
              <a:t>Rohan Patil -1262252816</a:t>
            </a:r>
            <a:br>
              <a:rPr lang="en-US" dirty="0">
                <a:cs typeface="Biome"/>
              </a:rPr>
            </a:br>
            <a:r>
              <a:rPr lang="en-US" dirty="0" err="1">
                <a:cs typeface="Biome"/>
              </a:rPr>
              <a:t>Rajganesh</a:t>
            </a:r>
            <a:r>
              <a:rPr lang="en-US" dirty="0">
                <a:cs typeface="Biome"/>
              </a:rPr>
              <a:t> Reddy-1262251774</a:t>
            </a:r>
            <a:br>
              <a:rPr lang="en-US" dirty="0">
                <a:cs typeface="Biome"/>
              </a:rPr>
            </a:br>
            <a:r>
              <a:rPr lang="en-US" dirty="0">
                <a:cs typeface="Biome"/>
              </a:rPr>
              <a:t>Shreyas Bhat-1262252958</a:t>
            </a:r>
            <a:br>
              <a:rPr lang="en-US" dirty="0">
                <a:cs typeface="Biome"/>
              </a:rPr>
            </a:br>
            <a:r>
              <a:rPr lang="en-US" dirty="0">
                <a:cs typeface="Biome"/>
              </a:rPr>
              <a:t>Sarvesh Shinde-1262252496</a:t>
            </a:r>
            <a:br>
              <a:rPr lang="en-US" dirty="0">
                <a:cs typeface="Biome"/>
              </a:rPr>
            </a:br>
            <a:r>
              <a:rPr lang="en-US" dirty="0">
                <a:cs typeface="Biome"/>
              </a:rPr>
              <a:t>Pranjal- 1262253585</a:t>
            </a:r>
            <a:br>
              <a:rPr lang="en-US" dirty="0">
                <a:cs typeface="Biome"/>
              </a:rPr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A231CE-1350-8B05-96A5-8DD83908C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757" y="2058416"/>
            <a:ext cx="7256243" cy="479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000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25E18-9835-9B71-F891-919AA3F5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IN THIS 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37A4-FD3F-87DB-AB9C-AAC63510B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335025"/>
            <a:ext cx="8953962" cy="4706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TOPICS COVERED IN THIS PRESENTATION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OBJECTIVES OF THE LIBRARY MANAGEMENT SYSTEM</a:t>
            </a:r>
          </a:p>
          <a:p>
            <a:r>
              <a:rPr lang="en-US" dirty="0"/>
              <a:t>SCOPE OF THE SYSTEM</a:t>
            </a:r>
          </a:p>
          <a:p>
            <a:r>
              <a:rPr lang="en-US" dirty="0"/>
              <a:t>TOOLS AND TECHNOLOGIES USED</a:t>
            </a:r>
          </a:p>
          <a:p>
            <a:r>
              <a:rPr lang="en-US" dirty="0"/>
              <a:t>WORKFLOW OF THE SYSTEM</a:t>
            </a:r>
          </a:p>
          <a:p>
            <a:r>
              <a:rPr lang="en-US" dirty="0"/>
              <a:t>FLOWCHARTS</a:t>
            </a:r>
          </a:p>
          <a:p>
            <a:r>
              <a:rPr lang="en-US" dirty="0"/>
              <a:t>ALGORITHM</a:t>
            </a:r>
          </a:p>
          <a:p>
            <a:r>
              <a:rPr lang="en-US" dirty="0"/>
              <a:t>MODULE-WISE EXPLANATION</a:t>
            </a:r>
          </a:p>
          <a:p>
            <a:pPr lvl="1"/>
            <a:r>
              <a:rPr lang="en-US" dirty="0"/>
              <a:t>ADMIN MODULE</a:t>
            </a:r>
          </a:p>
          <a:p>
            <a:pPr lvl="1"/>
            <a:r>
              <a:rPr lang="en-US" dirty="0"/>
              <a:t>USER MODULE</a:t>
            </a:r>
          </a:p>
          <a:p>
            <a:pPr lvl="1"/>
            <a:r>
              <a:rPr lang="en-US" dirty="0"/>
              <a:t>PAYMENT MODULE</a:t>
            </a:r>
          </a:p>
          <a:p>
            <a:pPr lvl="1"/>
            <a:r>
              <a:rPr lang="en-US" dirty="0"/>
              <a:t>FILE HANDLING MODULE</a:t>
            </a:r>
          </a:p>
          <a:p>
            <a:r>
              <a:rPr lang="en-US" dirty="0"/>
              <a:t>CONCLUSION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D0AB3-CC3C-8A23-3C73-43CFF2CE4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67" y="2168144"/>
            <a:ext cx="5426569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1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8E25-7E53-CD80-CDDA-25E0D989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OF LIBRARY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2FDE8-30AF-0D33-B160-9C36BD63D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Library Management System is a computerized system used to manage library activities</a:t>
            </a:r>
          </a:p>
          <a:p>
            <a:r>
              <a:rPr lang="en-US" dirty="0"/>
              <a:t>It helps in maintaining records of books, users, issue, and return operations</a:t>
            </a:r>
          </a:p>
          <a:p>
            <a:r>
              <a:rPr lang="en-US" dirty="0"/>
              <a:t>Reduces manual work and minimizes errors</a:t>
            </a:r>
          </a:p>
          <a:p>
            <a:r>
              <a:rPr lang="en-US" dirty="0"/>
              <a:t>Provides fast and accurate access to library information</a:t>
            </a:r>
          </a:p>
          <a:p>
            <a:r>
              <a:rPr lang="en-US" dirty="0"/>
              <a:t>Developed using the </a:t>
            </a:r>
            <a:r>
              <a:rPr lang="en-US" b="1" dirty="0"/>
              <a:t>C programming language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/>
              <a:t>structures</a:t>
            </a:r>
            <a:r>
              <a:rPr lang="en-US" dirty="0"/>
              <a:t> to store and organize data efficiently</a:t>
            </a:r>
          </a:p>
          <a:p>
            <a:r>
              <a:rPr lang="en-US" dirty="0"/>
              <a:t>Suitable for small libraries and academic projects</a:t>
            </a:r>
          </a:p>
          <a:p>
            <a:r>
              <a:rPr lang="en-US" dirty="0"/>
              <a:t>Helps students understand core concepts of C programming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CBFF8-A6DC-4233-8CFF-B20F2954C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705" y="167165"/>
            <a:ext cx="3794227" cy="187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8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AAEE-F23B-4DD3-BE39-EDC708D2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STATEMENTS FOR LIBRARY MANAGEMENT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6AFC6C-304D-7D71-291A-B3C3752364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375717"/>
            <a:ext cx="7101285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Traditional library management is carried out manually</a:t>
            </a:r>
          </a:p>
          <a:p>
            <a:r>
              <a:rPr lang="en-US" dirty="0"/>
              <a:t>Maintaining book and user records on paper is difficult</a:t>
            </a:r>
          </a:p>
          <a:p>
            <a:r>
              <a:rPr lang="en-US" dirty="0"/>
              <a:t>Manual record keeping is time-consuming</a:t>
            </a:r>
          </a:p>
          <a:p>
            <a:r>
              <a:rPr lang="en-US" dirty="0"/>
              <a:t>High chances of errors and data loss</a:t>
            </a:r>
          </a:p>
          <a:p>
            <a:r>
              <a:rPr lang="en-US" dirty="0"/>
              <a:t>Searching book details takes more time</a:t>
            </a:r>
          </a:p>
          <a:p>
            <a:r>
              <a:rPr lang="en-US" dirty="0"/>
              <a:t>Issue and return of books is not properly tracked</a:t>
            </a:r>
          </a:p>
          <a:p>
            <a:r>
              <a:rPr lang="en-US" dirty="0"/>
              <a:t>A computerized Library Management System is required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2B4B8E-65BF-A3A7-3EAA-7CEC4E64A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7" y="1404517"/>
            <a:ext cx="3894772" cy="358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6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D24E-5544-E047-2640-373AB47D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 OF LIBRARY MANAGEMENT SYSTEM USING C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A6CC-BACD-C3BD-D245-9271B1007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To develop a simple Library Management System using C</a:t>
            </a:r>
          </a:p>
          <a:p>
            <a:r>
              <a:rPr lang="en-US" dirty="0"/>
              <a:t>To use structures for organizing library data</a:t>
            </a:r>
          </a:p>
          <a:p>
            <a:r>
              <a:rPr lang="en-US" dirty="0"/>
              <a:t>To store and manage book details efficiently</a:t>
            </a:r>
          </a:p>
          <a:p>
            <a:r>
              <a:rPr lang="en-US" dirty="0"/>
              <a:t>To maintain user information accurately</a:t>
            </a:r>
          </a:p>
          <a:p>
            <a:r>
              <a:rPr lang="en-US" dirty="0"/>
              <a:t>To implement book issue and return operations</a:t>
            </a:r>
          </a:p>
          <a:p>
            <a:r>
              <a:rPr lang="en-US" dirty="0"/>
              <a:t>To reduce manual work and errors</a:t>
            </a:r>
          </a:p>
          <a:p>
            <a:r>
              <a:rPr lang="en-US" dirty="0"/>
              <a:t>To understand basic programming concepts in C</a:t>
            </a:r>
          </a:p>
          <a:p>
            <a:endParaRPr lang="en-I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A38647B-718C-4802-122F-2B25A1D4C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0619" y="1664208"/>
            <a:ext cx="3416788" cy="377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227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F93C-5BC8-7FD8-1EB3-3C546E39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SCOPE OF LIBRARY MANAGEMENT SYSTEM 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2992C-0B9F-DD49-0D3B-3E35EDF0F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Manages basic library operations efficiently</a:t>
            </a:r>
          </a:p>
          <a:p>
            <a:r>
              <a:rPr lang="en-US" dirty="0"/>
              <a:t>Stores and maintains book records</a:t>
            </a:r>
          </a:p>
          <a:p>
            <a:r>
              <a:rPr lang="en-US" dirty="0"/>
              <a:t>Maintains user information</a:t>
            </a:r>
          </a:p>
          <a:p>
            <a:r>
              <a:rPr lang="en-US" dirty="0"/>
              <a:t>Supports issuing of books to users</a:t>
            </a:r>
          </a:p>
          <a:p>
            <a:r>
              <a:rPr lang="en-US" dirty="0"/>
              <a:t>Handles return of issued books</a:t>
            </a:r>
          </a:p>
          <a:p>
            <a:r>
              <a:rPr lang="en-US" dirty="0"/>
              <a:t>Provides book search functionality</a:t>
            </a:r>
          </a:p>
          <a:p>
            <a:r>
              <a:rPr lang="en-US" dirty="0"/>
              <a:t>Suitable for small libraries and academic projects</a:t>
            </a:r>
          </a:p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32CFA4A-3C08-B84F-90C3-CE06F3E1C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704" y="1930400"/>
            <a:ext cx="3740087" cy="426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41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1051-0EB4-DB18-902D-EF70D927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88" y="632299"/>
            <a:ext cx="8596668" cy="1320800"/>
          </a:xfrm>
        </p:spPr>
        <p:txBody>
          <a:bodyPr/>
          <a:lstStyle/>
          <a:p>
            <a:r>
              <a:rPr lang="en-US" dirty="0"/>
              <a:t>WORKFLOW OF THE LIBRARY MANAGEMENT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1C978-FDE7-2D4C-6C83-DD2886F0B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1347026" cy="3880773"/>
          </a:xfrm>
        </p:spPr>
        <p:txBody>
          <a:bodyPr numCol="2">
            <a:normAutofit/>
          </a:bodyPr>
          <a:lstStyle/>
          <a:p>
            <a:r>
              <a:rPr lang="en-US" dirty="0"/>
              <a:t>The system starts and displays the </a:t>
            </a:r>
            <a:r>
              <a:rPr lang="en-US" b="1" dirty="0"/>
              <a:t>Main Menu</a:t>
            </a:r>
            <a:br>
              <a:rPr lang="en-US" dirty="0"/>
            </a:br>
            <a:r>
              <a:rPr lang="en-US" dirty="0"/>
              <a:t>(Admin Login, User Login, User Registration, Exit)</a:t>
            </a:r>
          </a:p>
          <a:p>
            <a:r>
              <a:rPr lang="en-US" b="1" dirty="0"/>
              <a:t>Admin Login</a:t>
            </a:r>
            <a:endParaRPr lang="en-US" dirty="0"/>
          </a:p>
          <a:p>
            <a:pPr lvl="1"/>
            <a:r>
              <a:rPr lang="en-US" dirty="0"/>
              <a:t>Admin enters username and password</a:t>
            </a:r>
          </a:p>
          <a:p>
            <a:pPr lvl="1"/>
            <a:r>
              <a:rPr lang="en-US" dirty="0"/>
              <a:t>If credentials are valid → Admin Menu is displayed</a:t>
            </a:r>
          </a:p>
          <a:p>
            <a:pPr lvl="1"/>
            <a:r>
              <a:rPr lang="en-US" dirty="0"/>
              <a:t>If invalid → Access is denied</a:t>
            </a:r>
          </a:p>
          <a:p>
            <a:r>
              <a:rPr lang="en-US" b="1" dirty="0"/>
              <a:t>Admin Operations</a:t>
            </a:r>
            <a:endParaRPr lang="en-US" dirty="0"/>
          </a:p>
          <a:p>
            <a:pPr lvl="1"/>
            <a:r>
              <a:rPr lang="en-US" dirty="0"/>
              <a:t>Admin can add new books to the system</a:t>
            </a:r>
          </a:p>
          <a:p>
            <a:pPr lvl="1"/>
            <a:r>
              <a:rPr lang="en-US" dirty="0"/>
              <a:t>Admin can view all available books</a:t>
            </a:r>
          </a:p>
          <a:p>
            <a:pPr lvl="1"/>
            <a:r>
              <a:rPr lang="en-US" dirty="0"/>
              <a:t>Admin can view registered users</a:t>
            </a:r>
          </a:p>
          <a:p>
            <a:pPr lvl="1"/>
            <a:r>
              <a:rPr lang="en-US" dirty="0"/>
              <a:t>Admin can view all buy and rent transactions</a:t>
            </a:r>
          </a:p>
          <a:p>
            <a:r>
              <a:rPr lang="en-US" b="1" dirty="0"/>
              <a:t>User Registration</a:t>
            </a:r>
            <a:endParaRPr lang="en-US" dirty="0"/>
          </a:p>
          <a:p>
            <a:pPr lvl="1"/>
            <a:r>
              <a:rPr lang="en-US" dirty="0"/>
              <a:t>New user enters username and password</a:t>
            </a:r>
          </a:p>
          <a:p>
            <a:pPr lvl="1"/>
            <a:r>
              <a:rPr lang="en-US" dirty="0"/>
              <a:t>User details are stored in the system</a:t>
            </a:r>
          </a:p>
          <a:p>
            <a:r>
              <a:rPr lang="en-US" b="1" dirty="0"/>
              <a:t>User Login</a:t>
            </a:r>
            <a:endParaRPr lang="en-US" dirty="0"/>
          </a:p>
          <a:p>
            <a:pPr lvl="1"/>
            <a:r>
              <a:rPr lang="en-US" dirty="0"/>
              <a:t>User enters login credentials</a:t>
            </a:r>
          </a:p>
          <a:p>
            <a:pPr lvl="1"/>
            <a:r>
              <a:rPr lang="en-US" dirty="0"/>
              <a:t>If valid → User Menu is displayed</a:t>
            </a:r>
          </a:p>
          <a:p>
            <a:pPr lvl="1"/>
            <a:r>
              <a:rPr lang="en-US" dirty="0"/>
              <a:t>If invalid → Login is rejected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470859-9F23-431F-4085-2E9A5E0BD762}"/>
              </a:ext>
            </a:extLst>
          </p:cNvPr>
          <p:cNvCxnSpPr/>
          <p:nvPr/>
        </p:nvCxnSpPr>
        <p:spPr>
          <a:xfrm>
            <a:off x="6181344" y="2160589"/>
            <a:ext cx="0" cy="367328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99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6BA8-B6FB-9BF1-457F-53FB6CEC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OF THE LIBRARY MANAGEMENT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BD7FD-17A5-8289-8885-7E43C1942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User Operations</a:t>
            </a:r>
            <a:endParaRPr lang="en-US" dirty="0"/>
          </a:p>
          <a:p>
            <a:pPr lvl="1"/>
            <a:r>
              <a:rPr lang="en-US" dirty="0"/>
              <a:t>User can view available books</a:t>
            </a:r>
          </a:p>
          <a:p>
            <a:pPr lvl="1"/>
            <a:r>
              <a:rPr lang="en-US" dirty="0"/>
              <a:t>User can choose to buy or rent a book</a:t>
            </a:r>
          </a:p>
          <a:p>
            <a:pPr lvl="1"/>
            <a:r>
              <a:rPr lang="en-US" dirty="0"/>
              <a:t>User selects payment mode (Credit / QR)</a:t>
            </a:r>
          </a:p>
          <a:p>
            <a:r>
              <a:rPr lang="en-US" b="1" dirty="0"/>
              <a:t>Payment &amp; Transaction Processing</a:t>
            </a:r>
            <a:endParaRPr lang="en-US" dirty="0"/>
          </a:p>
          <a:p>
            <a:pPr lvl="1"/>
            <a:r>
              <a:rPr lang="en-US" dirty="0"/>
              <a:t>Payment confirmation is requested</a:t>
            </a:r>
          </a:p>
          <a:p>
            <a:pPr lvl="1"/>
            <a:r>
              <a:rPr lang="en-US" dirty="0"/>
              <a:t>If payment is approved → Transaction is recorded</a:t>
            </a:r>
          </a:p>
          <a:p>
            <a:pPr lvl="1"/>
            <a:r>
              <a:rPr lang="en-US" dirty="0"/>
              <a:t>If payment fails → Operation is cancelled</a:t>
            </a:r>
          </a:p>
          <a:p>
            <a:r>
              <a:rPr lang="en-US" dirty="0"/>
              <a:t>The system updates records and displays confirmation messages</a:t>
            </a:r>
          </a:p>
          <a:p>
            <a:r>
              <a:rPr lang="en-US" dirty="0"/>
              <a:t>User or Admin can logout, and the system returns to the Main Menu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96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6ACBA8-F0F7-0205-994C-F019A779E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6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1D87-39AB-3E53-EBAD-3E6144D4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LIBRARY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70E65-2622-5A7E-7453-4311D1D97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r>
              <a:rPr lang="en-US" b="1" dirty="0"/>
              <a:t>ALGORITHM: LIBRARY MANAGEMENT SYSTEM</a:t>
            </a:r>
          </a:p>
          <a:p>
            <a:r>
              <a:rPr lang="en-US" b="1" dirty="0"/>
              <a:t>Step 1: Start</a:t>
            </a:r>
          </a:p>
          <a:p>
            <a:r>
              <a:rPr lang="en-US" dirty="0"/>
              <a:t>Begin execution of the program</a:t>
            </a:r>
          </a:p>
          <a:p>
            <a:r>
              <a:rPr lang="en-US" dirty="0"/>
              <a:t>Display the </a:t>
            </a:r>
            <a:r>
              <a:rPr lang="en-US" b="1" dirty="0"/>
              <a:t>Main Menu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Step 2: Display Main Menu</a:t>
            </a:r>
          </a:p>
          <a:p>
            <a:r>
              <a:rPr lang="en-US" dirty="0"/>
              <a:t>Show options:</a:t>
            </a:r>
          </a:p>
          <a:p>
            <a:pPr lvl="1"/>
            <a:r>
              <a:rPr lang="en-US" dirty="0"/>
              <a:t>Admin Login</a:t>
            </a:r>
          </a:p>
          <a:p>
            <a:pPr lvl="1"/>
            <a:r>
              <a:rPr lang="en-US" dirty="0"/>
              <a:t>User Login</a:t>
            </a:r>
          </a:p>
          <a:p>
            <a:pPr lvl="1"/>
            <a:r>
              <a:rPr lang="en-US" dirty="0"/>
              <a:t>User Registration</a:t>
            </a:r>
          </a:p>
          <a:p>
            <a:pPr lvl="1"/>
            <a:r>
              <a:rPr lang="en-US" dirty="0"/>
              <a:t>Exit</a:t>
            </a:r>
          </a:p>
          <a:p>
            <a:br>
              <a:rPr lang="en-US" dirty="0"/>
            </a:br>
            <a:r>
              <a:rPr lang="en-US" b="1" dirty="0"/>
              <a:t>Step 3: Admin Login</a:t>
            </a:r>
          </a:p>
          <a:p>
            <a:r>
              <a:rPr lang="en-US" dirty="0"/>
              <a:t>Read admin username and password</a:t>
            </a:r>
          </a:p>
          <a:p>
            <a:r>
              <a:rPr lang="en-US" dirty="0"/>
              <a:t>If credentials are valid:</a:t>
            </a:r>
          </a:p>
          <a:p>
            <a:pPr lvl="1"/>
            <a:r>
              <a:rPr lang="en-US" dirty="0"/>
              <a:t>Display </a:t>
            </a:r>
            <a:r>
              <a:rPr lang="en-US" b="1" dirty="0"/>
              <a:t>Admin Menu</a:t>
            </a:r>
            <a:endParaRPr lang="en-US" dirty="0"/>
          </a:p>
          <a:p>
            <a:r>
              <a:rPr lang="en-US" dirty="0"/>
              <a:t>Else:</a:t>
            </a:r>
          </a:p>
          <a:p>
            <a:pPr lvl="1"/>
            <a:r>
              <a:rPr lang="en-US" dirty="0"/>
              <a:t>Display error message and return to Main Menu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4: Admin Operations</a:t>
            </a:r>
          </a:p>
          <a:p>
            <a:r>
              <a:rPr lang="en-US" dirty="0"/>
              <a:t>Admin selects one option:</a:t>
            </a:r>
          </a:p>
          <a:p>
            <a:pPr lvl="1"/>
            <a:r>
              <a:rPr lang="en-US" dirty="0"/>
              <a:t>Add Book</a:t>
            </a:r>
          </a:p>
          <a:p>
            <a:pPr lvl="1"/>
            <a:r>
              <a:rPr lang="en-US" dirty="0"/>
              <a:t>View Books</a:t>
            </a:r>
          </a:p>
          <a:p>
            <a:pPr lvl="1"/>
            <a:r>
              <a:rPr lang="en-US" dirty="0"/>
              <a:t>View Registered Users</a:t>
            </a:r>
          </a:p>
          <a:p>
            <a:pPr lvl="1"/>
            <a:r>
              <a:rPr lang="en-US" dirty="0"/>
              <a:t>View Transactions</a:t>
            </a:r>
          </a:p>
          <a:p>
            <a:r>
              <a:rPr lang="en-US" dirty="0"/>
              <a:t>Perform selected operation</a:t>
            </a:r>
          </a:p>
          <a:p>
            <a:r>
              <a:rPr lang="en-US" dirty="0"/>
              <a:t>Repeat until admin chooses Logout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7ABCF7-5EFA-ED67-9752-191F5F762BE2}"/>
              </a:ext>
            </a:extLst>
          </p:cNvPr>
          <p:cNvCxnSpPr/>
          <p:nvPr/>
        </p:nvCxnSpPr>
        <p:spPr>
          <a:xfrm>
            <a:off x="4517136" y="2185416"/>
            <a:ext cx="0" cy="375818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222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0868-BC6E-6DC9-1D3E-82E873642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LIBRARY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7913-E253-4B20-5309-C49E4D6A4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792155"/>
          </a:xfrm>
        </p:spPr>
        <p:txBody>
          <a:bodyPr numCol="2">
            <a:normAutofit fontScale="40000" lnSpcReduction="20000"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sz="2800" b="1" dirty="0"/>
              <a:t>STEP 5: USER REGISTRATION</a:t>
            </a:r>
          </a:p>
          <a:p>
            <a:r>
              <a:rPr lang="en-US" sz="2800" dirty="0"/>
              <a:t>Accept username and password</a:t>
            </a:r>
          </a:p>
          <a:p>
            <a:r>
              <a:rPr lang="en-US" sz="2800" dirty="0"/>
              <a:t>Store user details in file</a:t>
            </a:r>
          </a:p>
          <a:p>
            <a:r>
              <a:rPr lang="en-US" sz="2800" dirty="0"/>
              <a:t>Return to Main Menu</a:t>
            </a:r>
          </a:p>
          <a:p>
            <a:r>
              <a:rPr lang="en-US" sz="2800" b="1" dirty="0"/>
              <a:t>STEP 6: USER LOGIN</a:t>
            </a:r>
          </a:p>
          <a:p>
            <a:r>
              <a:rPr lang="en-US" sz="2800" dirty="0"/>
              <a:t>Read login credentials</a:t>
            </a:r>
          </a:p>
          <a:p>
            <a:r>
              <a:rPr lang="en-US" sz="2800" dirty="0"/>
              <a:t>Validate from file</a:t>
            </a:r>
          </a:p>
          <a:p>
            <a:r>
              <a:rPr lang="en-US" sz="2800" dirty="0"/>
              <a:t>If valid, display User Menu</a:t>
            </a:r>
            <a:br>
              <a:rPr lang="en-US" sz="2800" dirty="0"/>
            </a:br>
            <a:endParaRPr lang="en-US" sz="2800" dirty="0"/>
          </a:p>
          <a:p>
            <a:r>
              <a:rPr lang="en-US" sz="2800" b="1" dirty="0"/>
              <a:t>STEP 7: USER OPERATIONS</a:t>
            </a:r>
          </a:p>
          <a:p>
            <a:r>
              <a:rPr lang="en-US" sz="2800" dirty="0"/>
              <a:t>View books</a:t>
            </a:r>
          </a:p>
          <a:p>
            <a:r>
              <a:rPr lang="en-US" sz="2800" dirty="0"/>
              <a:t>Buy or Rent book</a:t>
            </a:r>
          </a:p>
          <a:p>
            <a:r>
              <a:rPr lang="en-US" sz="2800" dirty="0"/>
              <a:t>Proceed to payment</a:t>
            </a:r>
            <a:br>
              <a:rPr lang="en-US" sz="2800" dirty="0"/>
            </a:br>
            <a:endParaRPr lang="en-US" sz="2800" dirty="0"/>
          </a:p>
          <a:p>
            <a:r>
              <a:rPr lang="en-US" sz="2800" b="1" dirty="0"/>
              <a:t>STEP 8: PAYMENT PROCESS</a:t>
            </a:r>
          </a:p>
          <a:p>
            <a:r>
              <a:rPr lang="en-US" sz="2800" dirty="0"/>
              <a:t>Select payment mode</a:t>
            </a:r>
          </a:p>
          <a:p>
            <a:r>
              <a:rPr lang="en-US" sz="2800" dirty="0"/>
              <a:t>Confirm payment</a:t>
            </a:r>
          </a:p>
          <a:p>
            <a:r>
              <a:rPr lang="en-US" sz="2800" dirty="0"/>
              <a:t>Approve or fail transaction</a:t>
            </a:r>
          </a:p>
          <a:p>
            <a:r>
              <a:rPr lang="en-US" sz="2800" b="1" dirty="0"/>
              <a:t>STEP 9: TRANSACTION STORAGE</a:t>
            </a:r>
          </a:p>
          <a:p>
            <a:r>
              <a:rPr lang="en-US" sz="2800" dirty="0"/>
              <a:t>Save transaction details in file</a:t>
            </a:r>
          </a:p>
          <a:p>
            <a:r>
              <a:rPr lang="en-US" sz="2800" dirty="0"/>
              <a:t>Display confirmation message</a:t>
            </a:r>
          </a:p>
          <a:p>
            <a:r>
              <a:rPr lang="en-US" sz="2800" b="1" dirty="0"/>
              <a:t>STEP 10: LOGOUT / EXIT</a:t>
            </a:r>
          </a:p>
          <a:p>
            <a:r>
              <a:rPr lang="en-US" sz="2800" dirty="0"/>
              <a:t>User or Admin logs out</a:t>
            </a:r>
          </a:p>
          <a:p>
            <a:r>
              <a:rPr lang="en-US" sz="2800" dirty="0"/>
              <a:t>Return to Main Menu or Exit</a:t>
            </a:r>
          </a:p>
          <a:p>
            <a:r>
              <a:rPr lang="en-US" sz="2800" b="1" dirty="0"/>
              <a:t>STEP 11: STOP</a:t>
            </a:r>
          </a:p>
          <a:p>
            <a:r>
              <a:rPr lang="en-US" sz="2800" dirty="0"/>
              <a:t>End program execution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010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D40184-0A01-3916-1BB9-ACDDD451B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611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E535-BF93-22F6-FE9D-082BF94B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FOR LIBRARY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CE90A-FE8D-93F3-988B-36FAA4CD7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The Library Management System automates basic library operations</a:t>
            </a:r>
          </a:p>
          <a:p>
            <a:r>
              <a:rPr lang="en-US" dirty="0"/>
              <a:t>It reduces manual work and minimizes errors</a:t>
            </a:r>
          </a:p>
          <a:p>
            <a:r>
              <a:rPr lang="en-US" dirty="0"/>
              <a:t>The system efficiently manages books, users, and transactions</a:t>
            </a:r>
          </a:p>
          <a:p>
            <a:r>
              <a:rPr lang="en-US" dirty="0"/>
              <a:t>Structures in C help organize and manage data effectively</a:t>
            </a:r>
          </a:p>
          <a:p>
            <a:r>
              <a:rPr lang="en-US" dirty="0"/>
              <a:t>File handling ensures permanent storage of records</a:t>
            </a:r>
          </a:p>
          <a:p>
            <a:r>
              <a:rPr lang="en-US" dirty="0"/>
              <a:t>Admin and User modules provide controlled access</a:t>
            </a:r>
          </a:p>
          <a:p>
            <a:r>
              <a:rPr lang="en-US" dirty="0"/>
              <a:t>The project improves understanding of C programming concepts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2B3B9-7593-A9FF-F306-84EB82358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56" y="1940172"/>
            <a:ext cx="3252978" cy="298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38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thank you images">
            <a:extLst>
              <a:ext uri="{FF2B5EF4-FFF2-40B4-BE49-F238E27FC236}">
                <a16:creationId xmlns:a16="http://schemas.microsoft.com/office/drawing/2014/main" id="{65A1846A-75ED-CFD9-F7F6-F1F0DAD0E0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7512" y="-1999488"/>
            <a:ext cx="5580888" cy="558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8D30F0-5547-8C09-54DF-BDE47A846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167384"/>
            <a:ext cx="5384483" cy="430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213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758</Words>
  <Application>Microsoft Office PowerPoint</Application>
  <PresentationFormat>Widescreen</PresentationFormat>
  <Paragraphs>143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Biome</vt:lpstr>
      <vt:lpstr>Trebuchet MS</vt:lpstr>
      <vt:lpstr>Wingdings 3</vt:lpstr>
      <vt:lpstr>Facet</vt:lpstr>
      <vt:lpstr>LIBRARY MANAGEMENT SYSTEM IN C USING STRUCTS</vt:lpstr>
      <vt:lpstr>TOPICS COVERED IN THIS PRESENTATION</vt:lpstr>
      <vt:lpstr>INTRODUCTION OF LIBRARY MANAGEMENT SYSTEM</vt:lpstr>
      <vt:lpstr>PROBLEM STATEMENTS FOR LIBRARY MANAGEMENT SYSTEM</vt:lpstr>
      <vt:lpstr>OBJECTIVE OF LIBRARY MANAGEMENT SYSTEM USING C LANGUAGE</vt:lpstr>
      <vt:lpstr>SCOPE OF LIBRARY MANAGEMENT SYSTEM  </vt:lpstr>
      <vt:lpstr>WORKFLOW OF THE LIBRARY MANAGEMENT SYSTEM</vt:lpstr>
      <vt:lpstr>WORKFLOW OF THE LIBRARY MANAGEMENT SYSTEM</vt:lpstr>
      <vt:lpstr>PowerPoint Presentation</vt:lpstr>
      <vt:lpstr>ALGORITHM: LIBRARY MANAGEMENT SYSTEM</vt:lpstr>
      <vt:lpstr>ALGORITHM: LIBRARY MANAGEMENT SYSTEM</vt:lpstr>
      <vt:lpstr>PowerPoint Presentation</vt:lpstr>
      <vt:lpstr>CONCLUSION FOR LIBRARY MANAGEMENT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rajganeshreddy2007@outlook.com</dc:creator>
  <cp:lastModifiedBy>rajganeshreddy2007@outlook.com</cp:lastModifiedBy>
  <cp:revision>1</cp:revision>
  <dcterms:created xsi:type="dcterms:W3CDTF">2026-02-12T15:14:16Z</dcterms:created>
  <dcterms:modified xsi:type="dcterms:W3CDTF">2026-02-12T16:48:45Z</dcterms:modified>
</cp:coreProperties>
</file>